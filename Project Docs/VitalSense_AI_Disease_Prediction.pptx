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Default Extension="xlsx" ContentType="application/vnd.openxmlformats-officedocument.spreadsheetml.sheet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9" r:id="rId6"/>
    <p:sldId id="261" r:id="rId7"/>
    <p:sldId id="262" r:id="rId8"/>
    <p:sldId id="263" r:id="rId9"/>
    <p:sldId id="270" r:id="rId10"/>
    <p:sldId id="265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-588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315C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13315C"/>
                </a:solidFill>
                <a:latin typeface="Calibri"/>
              </a:rPr>
              <a:t>Model Performance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0B4A6"/>
            </a:solidFill>
            <a:effectLst/>
          </c:spPr>
          <c:dLbls>
            <c:numFmt formatCode="0.0%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3315C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Sheet1!$A$2:$A$4</c:f>
              <c:strCache>
                <c:ptCount val="3"/>
                <c:pt idx="0">
                  <c:v>Test Accuracy</c:v>
                </c:pt>
                <c:pt idx="1">
                  <c:v>Weighted F1</c:v>
                </c:pt>
                <c:pt idx="2">
                  <c:v>5-fold CV Acc.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0.90400000000000003</c:v>
                </c:pt>
                <c:pt idx="1">
                  <c:v>0.90300000000000002</c:v>
                </c:pt>
                <c:pt idx="2">
                  <c:v>0.91</c:v>
                </c:pt>
              </c:numCache>
            </c:numRef>
          </c:val>
        </c:ser>
        <c:dLbls>
          <c:showVal val="1"/>
        </c:dLbls>
        <c:gapWidth val="40"/>
        <c:axId val="98670848"/>
        <c:axId val="98695040"/>
      </c:barChart>
      <c:catAx>
        <c:axId val="98670848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315C"/>
                </a:solidFill>
                <a:latin typeface="Calibri"/>
              </a:defRPr>
            </a:pPr>
            <a:endParaRPr lang="en-US"/>
          </a:p>
        </c:txPr>
        <c:crossAx val="98695040"/>
        <c:crosses val="autoZero"/>
        <c:auto val="1"/>
        <c:lblAlgn val="ctr"/>
        <c:lblOffset val="100"/>
        <c:noMultiLvlLbl val="1"/>
      </c:catAx>
      <c:valAx>
        <c:axId val="98695040"/>
        <c:scaling>
          <c:orientation val="minMax"/>
          <c:max val="1"/>
          <c:min val="0"/>
        </c:scaling>
        <c:axPos val="l"/>
        <c:majorGridlines>
          <c:spPr>
            <a:ln w="9525" cap="flat">
              <a:solidFill>
                <a:srgbClr val="E3E8EC"/>
              </a:solidFill>
              <a:prstDash val="solid"/>
              <a:round/>
            </a:ln>
          </c:spPr>
        </c:majorGridlines>
        <c:numFmt formatCode="0%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F"/>
                </a:solidFill>
                <a:latin typeface="Calibri"/>
              </a:defRPr>
            </a:pPr>
            <a:endParaRPr lang="en-US"/>
          </a:p>
        </c:txPr>
        <c:crossAx val="98670848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315C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13315C"/>
                </a:solidFill>
                <a:latin typeface="Calibri"/>
              </a:rPr>
              <a:t>Top 8 Feature Importances (Gini)</a:t>
            </a:r>
          </a:p>
        </c:rich>
      </c:tx>
      <c:layout/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B2545"/>
            </a:solidFill>
            <a:effectLst/>
          </c:spPr>
          <c:dPt>
            <c:idx val="0"/>
            <c:spPr>
              <a:solidFill>
                <a:srgbClr val="0B2545"/>
              </a:solidFill>
              <a:effectLst/>
            </c:spPr>
          </c:dPt>
          <c:dPt>
            <c:idx val="1"/>
            <c:spPr>
              <a:solidFill>
                <a:srgbClr val="0B2545"/>
              </a:solidFill>
              <a:effectLst/>
            </c:spPr>
          </c:dPt>
          <c:dPt>
            <c:idx val="2"/>
            <c:spPr>
              <a:solidFill>
                <a:srgbClr val="0B2545"/>
              </a:solidFill>
              <a:effectLst/>
            </c:spPr>
          </c:dPt>
          <c:dPt>
            <c:idx val="3"/>
            <c:spPr>
              <a:solidFill>
                <a:srgbClr val="0B2545"/>
              </a:solidFill>
              <a:effectLst/>
            </c:spPr>
          </c:dPt>
          <c:dPt>
            <c:idx val="4"/>
            <c:spPr>
              <a:solidFill>
                <a:srgbClr val="0B2545"/>
              </a:solidFill>
              <a:effectLst/>
            </c:spPr>
          </c:dPt>
          <c:dPt>
            <c:idx val="5"/>
            <c:spPr>
              <a:solidFill>
                <a:srgbClr val="0B2545"/>
              </a:solidFill>
              <a:effectLst/>
            </c:spPr>
          </c:dPt>
          <c:dPt>
            <c:idx val="6"/>
            <c:spPr>
              <a:solidFill>
                <a:srgbClr val="00B4A6"/>
              </a:solidFill>
              <a:effectLst/>
            </c:spPr>
          </c:dPt>
          <c:dPt>
            <c:idx val="7"/>
            <c:spPr>
              <a:solidFill>
                <a:srgbClr val="00B4A6"/>
              </a:solidFill>
              <a:effectLst/>
            </c:spPr>
          </c:dPt>
          <c:dLbls>
            <c:numFmt formatCode="0.00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3315C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Sheet1!$A$2:$A$9</c:f>
              <c:strCache>
                <c:ptCount val="8"/>
                <c:pt idx="0">
                  <c:v>Body temperature</c:v>
                </c:pt>
                <c:pt idx="1">
                  <c:v>Oxygen level</c:v>
                </c:pt>
                <c:pt idx="2">
                  <c:v>BP systolic</c:v>
                </c:pt>
                <c:pt idx="3">
                  <c:v>Blood sugar</c:v>
                </c:pt>
                <c:pt idx="4">
                  <c:v>Heart rate</c:v>
                </c:pt>
                <c:pt idx="5">
                  <c:v>BP diastolic</c:v>
                </c:pt>
                <c:pt idx="6">
                  <c:v>Headache</c:v>
                </c:pt>
                <c:pt idx="7">
                  <c:v>Chills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0.14200000000000002</c:v>
                </c:pt>
                <c:pt idx="1">
                  <c:v>8.4000000000000019E-2</c:v>
                </c:pt>
                <c:pt idx="2">
                  <c:v>8.2000000000000017E-2</c:v>
                </c:pt>
                <c:pt idx="3">
                  <c:v>7.3000000000000009E-2</c:v>
                </c:pt>
                <c:pt idx="4">
                  <c:v>5.8000000000000003E-2</c:v>
                </c:pt>
                <c:pt idx="5">
                  <c:v>5.6000000000000001E-2</c:v>
                </c:pt>
                <c:pt idx="6">
                  <c:v>3.4000000000000002E-2</c:v>
                </c:pt>
                <c:pt idx="7">
                  <c:v>3.1000000000000003E-2</c:v>
                </c:pt>
              </c:numCache>
            </c:numRef>
          </c:val>
        </c:ser>
        <c:dLbls>
          <c:showVal val="1"/>
        </c:dLbls>
        <c:gapWidth val="35"/>
        <c:axId val="138091136"/>
        <c:axId val="41934848"/>
      </c:barChart>
      <c:catAx>
        <c:axId val="138091136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315C"/>
                </a:solidFill>
                <a:latin typeface="Calibri"/>
              </a:defRPr>
            </a:pPr>
            <a:endParaRPr lang="en-US"/>
          </a:p>
        </c:txPr>
        <c:crossAx val="41934848"/>
        <c:crosses val="autoZero"/>
        <c:auto val="1"/>
        <c:lblAlgn val="ctr"/>
        <c:lblOffset val="100"/>
        <c:noMultiLvlLbl val="1"/>
      </c:catAx>
      <c:valAx>
        <c:axId val="41934848"/>
        <c:scaling>
          <c:orientation val="minMax"/>
        </c:scaling>
        <c:delete val="1"/>
        <c:axPos val="b"/>
        <c:numFmt formatCode="General" sourceLinked="0"/>
        <c:tickLblPos val="low"/>
        <c:crossAx val="138091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VITALSENSE AI</a:t>
            </a:r>
            <a:endParaRPr lang="en-US" sz="1500" dirty="0"/>
          </a:p>
        </p:txBody>
      </p:sp>
      <p:sp>
        <p:nvSpPr>
          <p:cNvPr id="3" name="Text 3"/>
          <p:cNvSpPr/>
          <p:nvPr/>
        </p:nvSpPr>
        <p:spPr>
          <a:xfrm>
            <a:off x="777240" y="269748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Disease from Vitals &amp; Symptoms</a:t>
            </a:r>
            <a:endParaRPr lang="en-US" sz="4000" dirty="0"/>
          </a:p>
        </p:txBody>
      </p:sp>
      <p:sp>
        <p:nvSpPr>
          <p:cNvPr id="4" name="Text 4"/>
          <p:cNvSpPr/>
          <p:nvPr/>
        </p:nvSpPr>
        <p:spPr>
          <a:xfrm>
            <a:off x="822960" y="37947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machine-learning pipeline that turns 9 vitals and 30 symptom flags into a ranked disease prediction across 15 conditions.</a:t>
            </a:r>
            <a:endParaRPr lang="en-US" sz="1500" dirty="0"/>
          </a:p>
        </p:txBody>
      </p:sp>
      <p:sp>
        <p:nvSpPr>
          <p:cNvPr id="5" name="Shape 5"/>
          <p:cNvSpPr/>
          <p:nvPr/>
        </p:nvSpPr>
        <p:spPr>
          <a:xfrm>
            <a:off x="822960" y="4709160"/>
            <a:ext cx="1280160" cy="0"/>
          </a:xfrm>
          <a:prstGeom prst="line">
            <a:avLst/>
          </a:prstGeom>
          <a:noFill/>
          <a:ln w="31750">
            <a:solidFill>
              <a:srgbClr val="00B4A6"/>
            </a:solidFill>
            <a:prstDash val="solid"/>
          </a:ln>
        </p:spPr>
      </p:sp>
      <p:sp>
        <p:nvSpPr>
          <p:cNvPr id="6" name="Text 6"/>
          <p:cNvSpPr/>
          <p:nvPr/>
        </p:nvSpPr>
        <p:spPr>
          <a:xfrm>
            <a:off x="82296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 ·  scikit-learn  ·  90.4% Test Accuracy</a:t>
            </a:r>
            <a:endParaRPr lang="en-US" sz="1300" dirty="0"/>
          </a:p>
        </p:txBody>
      </p:sp>
      <p:sp>
        <p:nvSpPr>
          <p:cNvPr id="7" name="Text 7"/>
          <p:cNvSpPr/>
          <p:nvPr/>
        </p:nvSpPr>
        <p:spPr>
          <a:xfrm>
            <a:off x="822960" y="6080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Pipeline Overview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 checkers today guess with rules, not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943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5394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VitalSense AI's original front end is a JavaScript rule-engine: </a:t>
            </a:r>
            <a:r>
              <a:rPr lang="en-US" sz="15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if/else logic </a:t>
            </a:r>
            <a:r>
              <a:rPr lang="en-US" sz="15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symptoms to a likely diagnosis.
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engines don't generalize. 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can't weigh 39 interacting features, don't improve with more data, and struggle where several diseases share symptoms (fever + fatigue + body pain shows up in Flu, Dengue, Malaria, Typhoid, and COVID-19 alike).
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replaces that rule engine with a trained statistical model 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learns patterns directly from labeled patient data.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20840" y="1783080"/>
            <a:ext cx="4892040" cy="129844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6995160" y="1911096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366760" y="19659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disease classes to distinguish between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20840" y="3264408"/>
            <a:ext cx="4892040" cy="129844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3392424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366760" y="344728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 — 9 vitals + 30 binary symptoms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20840" y="4745736"/>
            <a:ext cx="4892040" cy="129844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4873752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66760" y="4928616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in a hard-coded rule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VitalSense AI · Disease Prediction 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 synthetic patient records, fully labeled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2606040" cy="7315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574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rows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via generate_dataset.py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828800"/>
            <a:ext cx="2606040" cy="7315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0574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2044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vitals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32918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temp, BP, HR, sugar, O2...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828800"/>
            <a:ext cx="2606040" cy="7315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0574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35508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symptoms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32918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fever, cough, fatigue, rash...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182880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1828800"/>
            <a:ext cx="2606040" cy="73152"/>
          </a:xfrm>
          <a:prstGeom prst="rect">
            <a:avLst/>
          </a:prstGeom>
          <a:solidFill>
            <a:srgbClr val="FF6B5B"/>
          </a:solidFill>
          <a:ln/>
        </p:spPr>
      </p:sp>
      <p:sp>
        <p:nvSpPr>
          <p:cNvPr id="21" name="Text 19"/>
          <p:cNvSpPr/>
          <p:nvPr/>
        </p:nvSpPr>
        <p:spPr>
          <a:xfrm>
            <a:off x="9189720" y="20574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18972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labels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89720" y="32918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Cold, Flu, COVID-19, Dengue...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11064240" cy="160020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strategy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93776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stratified train-test split (3,200 train / 800 test) preserves the class balance across all 15 diseases — plus a 5-fold cross-validation pass on the training set to sanity-check stability before touching the held-out test data.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VitalSense AI · Disease Prediction ML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Schema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feature the model sees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42062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 (numeric, 10)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Gender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Weight (kg) &amp; Height (cm)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Body temperature (°F)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Blood pressure — systolic / diastolic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Heart rate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Blood sugar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Oxygen saturation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7269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 (binary flags, 30)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242316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Fever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Cough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Headache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Sore throat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Fatigue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Chest pain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Vomiting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Diarrhea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Nausea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Body pain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995160" y="242316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Chills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Runny nose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Shortness of breath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Joint pain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Skin rash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Abdominal pain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Dizziness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Loss of smell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Loss of taste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Sweating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0" y="242316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Anxiety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Depression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Back pain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Ear pain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Eye pain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Swollen glands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Frequent urination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Weight loss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Constipation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Muscle weakness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VitalSense AI · Disease Prediction ML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CSV to a deployable model bundle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417320" cy="1371600"/>
          </a:xfrm>
          <a:prstGeom prst="roundRect">
            <a:avLst>
              <a:gd name="adj" fmla="val 5333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</p:sp>
      <p:sp>
        <p:nvSpPr>
          <p:cNvPr id="5" name="Text 3"/>
          <p:cNvSpPr/>
          <p:nvPr/>
        </p:nvSpPr>
        <p:spPr>
          <a:xfrm>
            <a:off x="640080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" y="318211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3520440"/>
            <a:ext cx="1271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Read disease_data.csv (4,000 rows)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65960" y="3154680"/>
            <a:ext cx="190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56460" y="2743200"/>
            <a:ext cx="1417320" cy="1371600"/>
          </a:xfrm>
          <a:prstGeom prst="roundRect">
            <a:avLst>
              <a:gd name="adj" fmla="val 533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2247900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29612" y="318211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29612" y="3520440"/>
            <a:ext cx="1271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 gender &amp; the 15-class tar</a:t>
            </a:r>
            <a:r>
              <a:rPr lang="en-US" sz="8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73780" y="3154680"/>
            <a:ext cx="190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64280" y="2743200"/>
            <a:ext cx="1417320" cy="1371600"/>
          </a:xfrm>
          <a:prstGeom prst="roundRect">
            <a:avLst>
              <a:gd name="adj" fmla="val 533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15" name="Text 13"/>
          <p:cNvSpPr/>
          <p:nvPr/>
        </p:nvSpPr>
        <p:spPr>
          <a:xfrm>
            <a:off x="3855720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37432" y="318211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37432" y="3520440"/>
            <a:ext cx="1271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train / test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81600" y="3154680"/>
            <a:ext cx="190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72100" y="2743200"/>
            <a:ext cx="1417320" cy="1371600"/>
          </a:xfrm>
          <a:prstGeom prst="roundRect">
            <a:avLst>
              <a:gd name="adj" fmla="val 533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20" name="Text 18"/>
          <p:cNvSpPr/>
          <p:nvPr/>
        </p:nvSpPr>
        <p:spPr>
          <a:xfrm>
            <a:off x="5463540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5252" y="318211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5252" y="3520440"/>
            <a:ext cx="1271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the 9 numeric vitals only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89420" y="3154680"/>
            <a:ext cx="190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79920" y="2743200"/>
            <a:ext cx="1417320" cy="1371600"/>
          </a:xfrm>
          <a:prstGeom prst="roundRect">
            <a:avLst>
              <a:gd name="adj" fmla="val 533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25" name="Text 23"/>
          <p:cNvSpPr/>
          <p:nvPr/>
        </p:nvSpPr>
        <p:spPr>
          <a:xfrm>
            <a:off x="7071360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53072" y="318211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53072" y="3520440"/>
            <a:ext cx="1271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Fit RandomForestClassifier (300 trees)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97240" y="3154680"/>
            <a:ext cx="190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87740" y="2743200"/>
            <a:ext cx="1417320" cy="1371600"/>
          </a:xfrm>
          <a:prstGeom prst="roundRect">
            <a:avLst>
              <a:gd name="adj" fmla="val 5333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30" name="Text 28"/>
          <p:cNvSpPr/>
          <p:nvPr/>
        </p:nvSpPr>
        <p:spPr>
          <a:xfrm>
            <a:off x="8679180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60892" y="318211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60892" y="3520440"/>
            <a:ext cx="1271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CV, accuracy, F1, confusion mat</a:t>
            </a:r>
            <a:r>
              <a:rPr lang="en-US" sz="8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rix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005060" y="3154680"/>
            <a:ext cx="190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195560" y="274320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00B4A6"/>
          </a:solidFill>
          <a:ln/>
        </p:spPr>
      </p:sp>
      <p:sp>
        <p:nvSpPr>
          <p:cNvPr id="35" name="Text 33"/>
          <p:cNvSpPr/>
          <p:nvPr/>
        </p:nvSpPr>
        <p:spPr>
          <a:xfrm>
            <a:off x="10287000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268712" y="318211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268712" y="3520440"/>
            <a:ext cx="1271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joblib-dump model + scaler + encoders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" y="4663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Only the 9 numeric vitals pass through StandardScaler — the 30 symptom flags are already 0/1 and need no scaling.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VitalSense AI · Disease Prediction ML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tuned Random Forest classifier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Random Forest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Handles a mix of continuous vitals and binary symptom flags natively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Captures non-linear, interacting symptom combinations without manual feature engineering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Robust to noisy or weakly-informative symptom flags via bagging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Feature importances give a built-in, interpretable audit trail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02383" y="1828800"/>
            <a:ext cx="5623560" cy="41605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514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Estimator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32520" y="2514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898648"/>
            <a:ext cx="5120640" cy="0"/>
          </a:xfrm>
          <a:prstGeom prst="line">
            <a:avLst/>
          </a:prstGeom>
          <a:noFill/>
          <a:ln w="9525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8986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32520" y="28986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300 trees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3282696"/>
            <a:ext cx="5120640" cy="0"/>
          </a:xfrm>
          <a:prstGeom prst="line">
            <a:avLst/>
          </a:prstGeom>
          <a:noFill/>
          <a:ln w="9525">
            <a:solidFill>
              <a:srgbClr val="2C4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28269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32520" y="328269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666744"/>
            <a:ext cx="5120640" cy="0"/>
          </a:xfrm>
          <a:prstGeom prst="line">
            <a:avLst/>
          </a:prstGeom>
          <a:noFill/>
          <a:ln w="9525">
            <a:solidFill>
              <a:srgbClr val="2C4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66674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32520" y="366674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4050792"/>
            <a:ext cx="5120640" cy="0"/>
          </a:xfrm>
          <a:prstGeom prst="line">
            <a:avLst/>
          </a:prstGeom>
          <a:noFill/>
          <a:ln w="9525">
            <a:solidFill>
              <a:srgbClr val="2C4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40507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32520" y="40507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4434840"/>
            <a:ext cx="5120640" cy="0"/>
          </a:xfrm>
          <a:prstGeom prst="line">
            <a:avLst/>
          </a:prstGeom>
          <a:noFill/>
          <a:ln w="9525">
            <a:solidFill>
              <a:srgbClr val="2C4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434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32520" y="4434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42 (reproducible)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4818888"/>
            <a:ext cx="5120640" cy="0"/>
          </a:xfrm>
          <a:prstGeom prst="line">
            <a:avLst/>
          </a:prstGeom>
          <a:noFill/>
          <a:ln w="9525">
            <a:solidFill>
              <a:srgbClr val="2C4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8188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n_jobs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32520" y="48188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-1  (all cores)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VitalSense AI · Disease Prediction ML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Consistently strong across validation methods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82296" cy="12344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8424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90.4%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697480" y="1984248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accuracy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91840"/>
            <a:ext cx="82296" cy="1234440"/>
          </a:xfrm>
          <a:prstGeom prst="rect">
            <a:avLst/>
          </a:prstGeom>
          <a:solidFill>
            <a:srgbClr val="FF6B5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0156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97480" y="3401568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 score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709160"/>
            <a:ext cx="82296" cy="12344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81888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697480" y="4818888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mean accuracy</a:t>
            </a:r>
            <a:endParaRPr lang="en-US" sz="13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074920" y="1828800"/>
          <a:ext cx="65836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VitalSense AI · Disease Prediction ML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Interpretability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Vitals dominate the top of the importance ranking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7772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828800"/>
            <a:ext cx="3063240" cy="42062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6" name="Text 3"/>
          <p:cNvSpPr/>
          <p:nvPr/>
        </p:nvSpPr>
        <p:spPr>
          <a:xfrm>
            <a:off x="882396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Reading it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823960" y="2514600"/>
            <a:ext cx="2560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six vitals (navy) outrank every symptom flag individually —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body temperature alone carries ~14% of total importance.
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Symptoms still matter in combination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they're what separates diseases that share similar vitals, like distinguishing Flu from Dengue.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VitalSense AI · Disease Prediction ML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326571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13232" y="1058092"/>
            <a:ext cx="10351008" cy="386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15 disease classes, one shared feature space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121408" cy="1234440"/>
          </a:xfrm>
          <a:prstGeom prst="roundRect">
            <a:avLst>
              <a:gd name="adj" fmla="val 4444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2039112"/>
            <a:ext cx="256032" cy="25603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40487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Common Cold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807208" y="1874520"/>
            <a:ext cx="2121408" cy="1234440"/>
          </a:xfrm>
          <a:prstGeom prst="roundRect">
            <a:avLst>
              <a:gd name="adj" fmla="val 4444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8" name="Shape 6"/>
          <p:cNvSpPr/>
          <p:nvPr/>
        </p:nvSpPr>
        <p:spPr>
          <a:xfrm>
            <a:off x="2971800" y="2039112"/>
            <a:ext cx="256032" cy="25603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9" name="Text 7"/>
          <p:cNvSpPr/>
          <p:nvPr/>
        </p:nvSpPr>
        <p:spPr>
          <a:xfrm>
            <a:off x="2944368" y="240487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Flu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65776" y="1874520"/>
            <a:ext cx="2121408" cy="1234440"/>
          </a:xfrm>
          <a:prstGeom prst="roundRect">
            <a:avLst>
              <a:gd name="adj" fmla="val 4444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11" name="Shape 9"/>
          <p:cNvSpPr/>
          <p:nvPr/>
        </p:nvSpPr>
        <p:spPr>
          <a:xfrm>
            <a:off x="5230368" y="2039112"/>
            <a:ext cx="256032" cy="25603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2" name="Text 10"/>
          <p:cNvSpPr/>
          <p:nvPr/>
        </p:nvSpPr>
        <p:spPr>
          <a:xfrm>
            <a:off x="5202936" y="240487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COVID-19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24344" y="1874520"/>
            <a:ext cx="2121408" cy="1234440"/>
          </a:xfrm>
          <a:prstGeom prst="roundRect">
            <a:avLst>
              <a:gd name="adj" fmla="val 4444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88936" y="2039112"/>
            <a:ext cx="256032" cy="25603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5" name="Text 13"/>
          <p:cNvSpPr/>
          <p:nvPr/>
        </p:nvSpPr>
        <p:spPr>
          <a:xfrm>
            <a:off x="7461504" y="240487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Malaria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582912" y="1874520"/>
            <a:ext cx="2121408" cy="1234440"/>
          </a:xfrm>
          <a:prstGeom prst="roundRect">
            <a:avLst>
              <a:gd name="adj" fmla="val 4444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17" name="Shape 15"/>
          <p:cNvSpPr/>
          <p:nvPr/>
        </p:nvSpPr>
        <p:spPr>
          <a:xfrm>
            <a:off x="9747504" y="2039112"/>
            <a:ext cx="256032" cy="25603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8" name="Text 16"/>
          <p:cNvSpPr/>
          <p:nvPr/>
        </p:nvSpPr>
        <p:spPr>
          <a:xfrm>
            <a:off x="9720072" y="240487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Dengue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2121408" cy="1234440"/>
          </a:xfrm>
          <a:prstGeom prst="roundRect">
            <a:avLst>
              <a:gd name="adj" fmla="val 4444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456432"/>
            <a:ext cx="256032" cy="25603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2219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2807208" y="3291840"/>
            <a:ext cx="2121408" cy="1234440"/>
          </a:xfrm>
          <a:prstGeom prst="roundRect">
            <a:avLst>
              <a:gd name="adj" fmla="val 4444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71800" y="3456432"/>
            <a:ext cx="256032" cy="25603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4" name="Text 22"/>
          <p:cNvSpPr/>
          <p:nvPr/>
        </p:nvSpPr>
        <p:spPr>
          <a:xfrm>
            <a:off x="2944368" y="382219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065776" y="3291840"/>
            <a:ext cx="2121408" cy="1234440"/>
          </a:xfrm>
          <a:prstGeom prst="roundRect">
            <a:avLst>
              <a:gd name="adj" fmla="val 4444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26" name="Shape 24"/>
          <p:cNvSpPr/>
          <p:nvPr/>
        </p:nvSpPr>
        <p:spPr>
          <a:xfrm>
            <a:off x="5230368" y="3456432"/>
            <a:ext cx="256032" cy="25603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7" name="Text 25"/>
          <p:cNvSpPr/>
          <p:nvPr/>
        </p:nvSpPr>
        <p:spPr>
          <a:xfrm>
            <a:off x="5202936" y="382219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Asthma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324344" y="3291840"/>
            <a:ext cx="2121408" cy="1234440"/>
          </a:xfrm>
          <a:prstGeom prst="roundRect">
            <a:avLst>
              <a:gd name="adj" fmla="val 4444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29" name="Shape 27"/>
          <p:cNvSpPr/>
          <p:nvPr/>
        </p:nvSpPr>
        <p:spPr>
          <a:xfrm>
            <a:off x="7488936" y="3456432"/>
            <a:ext cx="256032" cy="25603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0" name="Text 28"/>
          <p:cNvSpPr/>
          <p:nvPr/>
        </p:nvSpPr>
        <p:spPr>
          <a:xfrm>
            <a:off x="7461504" y="382219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Pneumonia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9582912" y="3291840"/>
            <a:ext cx="2121408" cy="1234440"/>
          </a:xfrm>
          <a:prstGeom prst="roundRect">
            <a:avLst>
              <a:gd name="adj" fmla="val 4444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32" name="Shape 30"/>
          <p:cNvSpPr/>
          <p:nvPr/>
        </p:nvSpPr>
        <p:spPr>
          <a:xfrm>
            <a:off x="9747504" y="3456432"/>
            <a:ext cx="256032" cy="25603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3" name="Text 31"/>
          <p:cNvSpPr/>
          <p:nvPr/>
        </p:nvSpPr>
        <p:spPr>
          <a:xfrm>
            <a:off x="9720072" y="382219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Food Poisoning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48640" y="4709160"/>
            <a:ext cx="2121408" cy="1234440"/>
          </a:xfrm>
          <a:prstGeom prst="roundRect">
            <a:avLst>
              <a:gd name="adj" fmla="val 4444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35" name="Shape 33"/>
          <p:cNvSpPr/>
          <p:nvPr/>
        </p:nvSpPr>
        <p:spPr>
          <a:xfrm>
            <a:off x="713232" y="4873752"/>
            <a:ext cx="256032" cy="25603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523951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Migraine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2807208" y="4709160"/>
            <a:ext cx="2121408" cy="1234440"/>
          </a:xfrm>
          <a:prstGeom prst="roundRect">
            <a:avLst>
              <a:gd name="adj" fmla="val 4444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71800" y="4873752"/>
            <a:ext cx="256032" cy="25603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9" name="Text 37"/>
          <p:cNvSpPr/>
          <p:nvPr/>
        </p:nvSpPr>
        <p:spPr>
          <a:xfrm>
            <a:off x="2944368" y="523951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Typhoid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5065776" y="4709160"/>
            <a:ext cx="2121408" cy="1234440"/>
          </a:xfrm>
          <a:prstGeom prst="roundRect">
            <a:avLst>
              <a:gd name="adj" fmla="val 4444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41" name="Shape 39"/>
          <p:cNvSpPr/>
          <p:nvPr/>
        </p:nvSpPr>
        <p:spPr>
          <a:xfrm>
            <a:off x="5230368" y="4873752"/>
            <a:ext cx="256032" cy="25603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42" name="Text 40"/>
          <p:cNvSpPr/>
          <p:nvPr/>
        </p:nvSpPr>
        <p:spPr>
          <a:xfrm>
            <a:off x="5202936" y="523951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Tuberculosis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7324344" y="4709160"/>
            <a:ext cx="2121408" cy="1234440"/>
          </a:xfrm>
          <a:prstGeom prst="roundRect">
            <a:avLst>
              <a:gd name="adj" fmla="val 4444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44" name="Shape 42"/>
          <p:cNvSpPr/>
          <p:nvPr/>
        </p:nvSpPr>
        <p:spPr>
          <a:xfrm>
            <a:off x="7488936" y="4873752"/>
            <a:ext cx="256032" cy="25603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45" name="Text 43"/>
          <p:cNvSpPr/>
          <p:nvPr/>
        </p:nvSpPr>
        <p:spPr>
          <a:xfrm>
            <a:off x="7461504" y="523951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Allergies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9582912" y="4709160"/>
            <a:ext cx="2121408" cy="1234440"/>
          </a:xfrm>
          <a:prstGeom prst="roundRect">
            <a:avLst>
              <a:gd name="adj" fmla="val 4444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47" name="Shape 45"/>
          <p:cNvSpPr/>
          <p:nvPr/>
        </p:nvSpPr>
        <p:spPr>
          <a:xfrm>
            <a:off x="9747504" y="4873752"/>
            <a:ext cx="256032" cy="256032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48" name="Text 46"/>
          <p:cNvSpPr/>
          <p:nvPr/>
        </p:nvSpPr>
        <p:spPr>
          <a:xfrm>
            <a:off x="9720072" y="523951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Viral Fever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VitalSense AI · Disease Prediction ML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notebook model to live web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87383" y="2194560"/>
            <a:ext cx="329184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7383" y="2194560"/>
            <a:ext cx="329184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287383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 form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vitals + symptoms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726180" y="28346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29184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2194560"/>
            <a:ext cx="3291840" cy="4572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27889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FastAPI endpoint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predict_one()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95260" y="28346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572500" y="2194560"/>
            <a:ext cx="329184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72500" y="2194560"/>
            <a:ext cx="3291840" cy="457200"/>
          </a:xfrm>
          <a:prstGeom prst="rect">
            <a:avLst/>
          </a:prstGeom>
          <a:solidFill>
            <a:srgbClr val="FF6B5B"/>
          </a:solidFill>
          <a:ln/>
        </p:spPr>
      </p:sp>
      <p:sp>
        <p:nvSpPr>
          <p:cNvPr id="16" name="Text 14"/>
          <p:cNvSpPr/>
          <p:nvPr/>
        </p:nvSpPr>
        <p:spPr>
          <a:xfrm>
            <a:off x="8572500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Bundle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08415" y="27889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disease_model.pkl —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scaler + encoders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448056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Currently, the deployed VitalSense AI front end runs prediction logic client-side in JavaScript. Swapping in this trained model means replacing the local runPrediction() call with a fetch() to a /predict endpoint — no change needed on the form itself.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VitalSense AI · Disease Prediction ML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pipeline goes from 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with --rows 10000+ for more robust class coverage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87452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148840"/>
            <a:ext cx="502920" cy="50292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880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real-world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4290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de-identified clinical data under proper governance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2148840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2880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via API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34290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predict_one() in Flask/FastAPI for the live web front-end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87452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2148840"/>
            <a:ext cx="502920" cy="50292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35440" y="28803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drift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35440" y="34290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training_metrics.json checks as the model is retrained over time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064240" cy="0"/>
          </a:xfrm>
          <a:prstGeom prst="line">
            <a:avLst/>
          </a:prstGeom>
          <a:noFill/>
          <a:ln w="12700">
            <a:solidFill>
              <a:srgbClr val="E3E8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715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questions welcome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VitalSense AI · Disease Prediction ML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825</Words>
  <Application>Microsoft Office PowerPoint</Application>
  <PresentationFormat>Custom</PresentationFormat>
  <Paragraphs>219</Paragraphs>
  <Slides>11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Windows User</cp:lastModifiedBy>
  <cp:revision>3</cp:revision>
  <dcterms:created xsi:type="dcterms:W3CDTF">2026-07-10T03:53:17Z</dcterms:created>
  <dcterms:modified xsi:type="dcterms:W3CDTF">2026-07-10T04:12:29Z</dcterms:modified>
</cp:coreProperties>
</file>